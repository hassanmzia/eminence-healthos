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Eminence HealthOS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9688"/>
                </a:solidFill>
              </a:defRPr>
            </a:pPr>
            <a:r>
              <a:t>The AI Operating System for Digital Healthcare Platforms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0F0F0"/>
                </a:solidFill>
              </a:defRPr>
            </a:pPr>
            <a:r>
              <a:t>30 Specialized AI Agents | 15 Clinical Modules | Enterprise-Grade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0F0F0"/>
                </a:solidFill>
              </a:defRPr>
            </a:pPr>
            <a:r>
              <a:t>Eminence Tech Solutions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</a:defRPr>
            </a:pPr>
            <a:r>
              <a:t>The Problem: Fragmented Healthcare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Separate RPM, telehealth, analytics, and billing systems that don't communicate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Manual workflows causing delays in care coordination and prior authorizations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Data silos preventing holistic patient views and population-level insights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No AI-native architecture — AI bolted on as afterthought, not core design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Compliance burden across multiple disconnected systems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Clinician burnout from excessive documentation and administrative tasks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0" y="1645920"/>
            <a:ext cx="4572000" cy="411480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0" y="1828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By the Numbers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0" y="256032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$4.5T — US healthcare spending annually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30% — Administrative waste in healthcare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86% — Clinicians report burnout symptoms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2hrs — Documentation per 1hr of patient care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$250B — Potential AI savings in healthcare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The Solution: Eminence HealthOS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9688"/>
                </a:solidFill>
              </a:defRPr>
            </a:pPr>
            <a:r>
              <a:t>A unified AI operating system where 30+ specialized agents coordinate to deliver intelligent, automated healthcare workflows.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560320"/>
            <a:ext cx="2560320" cy="34747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88"/>
                </a:solidFill>
              </a:defRPr>
            </a:pPr>
            <a:r>
              <a:t>Remote Patient</a:t>
            </a:r>
            <a:br/>
            <a:r>
              <a:t>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0F0F0"/>
                </a:solidFill>
              </a:defRPr>
            </a:pPr>
            <a:r>
              <a:t>Continuous vitals</a:t>
            </a:r>
            <a:br/>
            <a:r>
              <a:t>AI anomaly detection</a:t>
            </a:r>
            <a:br/>
            <a:r>
              <a:t>Smart thresholds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2560320"/>
            <a:ext cx="2560320" cy="34747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40" y="27432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88"/>
                </a:solidFill>
              </a:defRPr>
            </a:pPr>
            <a:r>
              <a:t>Telehealth</a:t>
            </a:r>
            <a:br/>
            <a:r>
              <a:t>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40" y="384048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0F0F0"/>
                </a:solidFill>
              </a:defRPr>
            </a:pPr>
            <a:r>
              <a:t>Video consultations</a:t>
            </a:r>
            <a:br/>
            <a:r>
              <a:t>Ambient documentation</a:t>
            </a:r>
            <a:br/>
            <a:r>
              <a:t>AI visit prep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560320"/>
            <a:ext cx="2560320" cy="34747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7432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88"/>
                </a:solidFill>
              </a:defRPr>
            </a:pPr>
            <a:r>
              <a:t>Operations</a:t>
            </a:r>
            <a:br/>
            <a:r>
              <a:t>Automation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84048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0F0F0"/>
                </a:solidFill>
              </a:defRPr>
            </a:pPr>
            <a:r>
              <a:t>Smart scheduling</a:t>
            </a:r>
            <a:br/>
            <a:r>
              <a:t>Prior auth automation</a:t>
            </a:r>
            <a:br/>
            <a:r>
              <a:t>Referral coordination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2560320"/>
            <a:ext cx="2560320" cy="34747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27432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88"/>
                </a:solidFill>
              </a:defRPr>
            </a:pPr>
            <a:r>
              <a:t>Population Health</a:t>
            </a:r>
            <a:br/>
            <a:r>
              <a:t>Analytics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384048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0F0F0"/>
                </a:solidFill>
              </a:defRPr>
            </a:pPr>
            <a:r>
              <a:t>Cohort segmentation</a:t>
            </a:r>
            <a:br/>
            <a:r>
              <a:t>Readmission prediction</a:t>
            </a:r>
            <a:br/>
            <a:r>
              <a:t>Executive insights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</a:defRPr>
            </a:pPr>
            <a:r>
              <a:t>30-Agent Multi-Agent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515600" cy="914400"/>
          </a:xfrm>
          <a:prstGeom prst="roundRect">
            <a:avLst/>
          </a:prstGeom>
          <a:solidFill>
            <a:srgbClr val="F8C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</a:defRPr>
            </a:pPr>
            <a:r>
              <a:t>Layer 5: Measurement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Outcome Measurement | Population Health | Readmission Risk | Cohort Segmentation | Cost/Risk Insight | Executive Insight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10515600" cy="914400"/>
          </a:xfrm>
          <a:prstGeom prst="round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</a:defRPr>
            </a:pPr>
            <a:r>
              <a:t>Layer 4: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Patient Communication | Scheduling | Prior Auth | Referral Coordination | Follow-Up Plan | Task Orchestration | Billing Readiness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83280"/>
            <a:ext cx="10515600" cy="914400"/>
          </a:xfrm>
          <a:prstGeom prst="roundRect">
            <a:avLst/>
          </a:prstGeom>
          <a:solidFill>
            <a:srgbClr val="D5E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429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</a:defRPr>
            </a:pPr>
            <a:r>
              <a:t>Layer 3: Decisioning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Master Orchestrator | Context Assembly | Policy/Rules Engine | Human-in-the-Loop | Audit/Trace | Quality/Confidence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89120"/>
            <a:ext cx="10515600" cy="914400"/>
          </a:xfrm>
          <a:prstGeom prst="roundRect">
            <a:avLst/>
          </a:prstGeom>
          <a:solidFill>
            <a:srgbClr val="DAE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434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</a:defRPr>
            </a:pPr>
            <a:r>
              <a:t>Layer 2: Interpretation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800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Anomaly Detection | Trend Analysis | Risk Scoring | Medication Review | Visit Preparation | Clinical Note Generation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394960"/>
            <a:ext cx="10515600" cy="914400"/>
          </a:xfrm>
          <a:prstGeom prst="roundRect">
            <a:avLst/>
          </a:prstGeom>
          <a:solidFill>
            <a:srgbClr val="E1D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440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</a:defRPr>
            </a:pPr>
            <a:r>
              <a:t>Layer 1: Sensing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806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Device Ingestion | Vitals Normalization | Adherence Monitoring | Insurance Verification | Escalation Routing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463040"/>
            <a:ext cx="2103120" cy="4114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88"/>
                </a:solidFill>
              </a:defRPr>
            </a:pPr>
            <a:r>
              <a:t>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828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0F0F0"/>
                </a:solidFill>
              </a:defRPr>
            </a:pPr>
            <a:r>
              <a:t>Python 3.12 + FastAPI</a:t>
            </a:r>
          </a:p>
          <a:p>
            <a:pPr>
              <a:spcAft>
                <a:spcPts val="600"/>
              </a:spcAft>
              <a:defRPr sz="1300">
                <a:solidFill>
                  <a:srgbClr val="F0F0F0"/>
                </a:solidFill>
              </a:defRPr>
            </a:pPr>
            <a:r>
              <a:t>Temporal Workflows</a:t>
            </a:r>
          </a:p>
          <a:p>
            <a:pPr>
              <a:spcAft>
                <a:spcPts val="600"/>
              </a:spcAft>
              <a:defRPr sz="1300">
                <a:solidFill>
                  <a:srgbClr val="F0F0F0"/>
                </a:solidFill>
              </a:defRPr>
            </a:pPr>
            <a:r>
              <a:t>Kafka Event Streaming</a:t>
            </a:r>
          </a:p>
          <a:p>
            <a:pPr>
              <a:spcAft>
                <a:spcPts val="600"/>
              </a:spcAft>
              <a:defRPr sz="1300">
                <a:solidFill>
                  <a:srgbClr val="F0F0F0"/>
                </a:solidFill>
              </a:defRPr>
            </a:pPr>
            <a:r>
              <a:t>Keycloak Auth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463040"/>
            <a:ext cx="2103120" cy="4114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34640" y="15544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88"/>
                </a:solidFill>
              </a:defRPr>
            </a:pPr>
            <a:r>
              <a:t>AI / 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194560"/>
            <a:ext cx="1828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0F0F0"/>
                </a:solidFill>
              </a:defRPr>
            </a:pPr>
            <a:r>
              <a:t>Claude API (Anthropic)</a:t>
            </a:r>
          </a:p>
          <a:p>
            <a:pPr>
              <a:spcAft>
                <a:spcPts val="600"/>
              </a:spcAft>
              <a:defRPr sz="1300">
                <a:solidFill>
                  <a:srgbClr val="F0F0F0"/>
                </a:solidFill>
              </a:defRPr>
            </a:pPr>
            <a:r>
              <a:t>OpenAI GPT-4</a:t>
            </a:r>
          </a:p>
          <a:p>
            <a:pPr>
              <a:spcAft>
                <a:spcPts val="600"/>
              </a:spcAft>
              <a:defRPr sz="1300">
                <a:solidFill>
                  <a:srgbClr val="F0F0F0"/>
                </a:solidFill>
              </a:defRPr>
            </a:pPr>
            <a:r>
              <a:t>Ollama (Local LLM)</a:t>
            </a:r>
          </a:p>
          <a:p>
            <a:pPr>
              <a:spcAft>
                <a:spcPts val="600"/>
              </a:spcAft>
              <a:defRPr sz="1300">
                <a:solidFill>
                  <a:srgbClr val="F0F0F0"/>
                </a:solidFill>
              </a:defRPr>
            </a:pPr>
            <a:r>
              <a:t>XGBoost, PyTorch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1463040"/>
            <a:ext cx="2103120" cy="4114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0" y="15544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88"/>
                </a:solidFill>
              </a:defRPr>
            </a:pPr>
            <a:r>
              <a:t>Data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2194560"/>
            <a:ext cx="1828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0F0F0"/>
                </a:solidFill>
              </a:defRPr>
            </a:pPr>
            <a:r>
              <a:t>PostgreSQL + pgvector</a:t>
            </a:r>
          </a:p>
          <a:p>
            <a:pPr>
              <a:spcAft>
                <a:spcPts val="600"/>
              </a:spcAft>
              <a:defRPr sz="1300">
                <a:solidFill>
                  <a:srgbClr val="F0F0F0"/>
                </a:solidFill>
              </a:defRPr>
            </a:pPr>
            <a:r>
              <a:t>Redis 7 Cache</a:t>
            </a:r>
          </a:p>
          <a:p>
            <a:pPr>
              <a:spcAft>
                <a:spcPts val="600"/>
              </a:spcAft>
              <a:defRPr sz="1300">
                <a:solidFill>
                  <a:srgbClr val="F0F0F0"/>
                </a:solidFill>
              </a:defRPr>
            </a:pPr>
            <a:r>
              <a:t>Qdrant Vector DB</a:t>
            </a:r>
          </a:p>
          <a:p>
            <a:pPr>
              <a:spcAft>
                <a:spcPts val="600"/>
              </a:spcAft>
              <a:defRPr sz="1300">
                <a:solidFill>
                  <a:srgbClr val="F0F0F0"/>
                </a:solidFill>
              </a:defRPr>
            </a:pPr>
            <a:r>
              <a:t>Neo4j Knowledge Graph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1463040"/>
            <a:ext cx="2103120" cy="4114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15544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88"/>
                </a:solidFill>
              </a:defRPr>
            </a:pPr>
            <a:r>
              <a:t>Frontend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0" y="2194560"/>
            <a:ext cx="1828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0F0F0"/>
                </a:solidFill>
              </a:defRPr>
            </a:pPr>
            <a:r>
              <a:t>React 18 + Next.js 15</a:t>
            </a:r>
          </a:p>
          <a:p>
            <a:pPr>
              <a:spcAft>
                <a:spcPts val="600"/>
              </a:spcAft>
              <a:defRPr sz="1300">
                <a:solidFill>
                  <a:srgbClr val="F0F0F0"/>
                </a:solidFill>
              </a:defRPr>
            </a:pPr>
            <a:r>
              <a:t>TypeScript</a:t>
            </a:r>
          </a:p>
          <a:p>
            <a:pPr>
              <a:spcAft>
                <a:spcPts val="600"/>
              </a:spcAft>
              <a:defRPr sz="1300">
                <a:solidFill>
                  <a:srgbClr val="F0F0F0"/>
                </a:solidFill>
              </a:defRPr>
            </a:pPr>
            <a:r>
              <a:t>Tailwind + shadcn/ui</a:t>
            </a:r>
          </a:p>
          <a:p>
            <a:pPr>
              <a:spcAft>
                <a:spcPts val="600"/>
              </a:spcAft>
              <a:defRPr sz="1300">
                <a:solidFill>
                  <a:srgbClr val="F0F0F0"/>
                </a:solidFill>
              </a:defRPr>
            </a:pPr>
            <a:r>
              <a:t>Recharts / D3.js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0" y="1463040"/>
            <a:ext cx="2103120" cy="4114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0" y="15544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88"/>
                </a:solidFill>
              </a:defRPr>
            </a:pPr>
            <a:r>
              <a:t>DevOps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2194560"/>
            <a:ext cx="1828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0F0F0"/>
                </a:solidFill>
              </a:defRPr>
            </a:pPr>
            <a:r>
              <a:t>Docker + Kubernetes</a:t>
            </a:r>
          </a:p>
          <a:p>
            <a:pPr>
              <a:spcAft>
                <a:spcPts val="600"/>
              </a:spcAft>
              <a:defRPr sz="1300">
                <a:solidFill>
                  <a:srgbClr val="F0F0F0"/>
                </a:solidFill>
              </a:defRPr>
            </a:pPr>
            <a:r>
              <a:t>Helm 3 + Terraform</a:t>
            </a:r>
          </a:p>
          <a:p>
            <a:pPr>
              <a:spcAft>
                <a:spcPts val="600"/>
              </a:spcAft>
              <a:defRPr sz="1300">
                <a:solidFill>
                  <a:srgbClr val="F0F0F0"/>
                </a:solidFill>
              </a:defRPr>
            </a:pPr>
            <a:r>
              <a:t>GitHub Actions CI/CD</a:t>
            </a:r>
          </a:p>
          <a:p>
            <a:pPr>
              <a:spcAft>
                <a:spcPts val="600"/>
              </a:spcAft>
              <a:defRPr sz="1300">
                <a:solidFill>
                  <a:srgbClr val="F0F0F0"/>
                </a:solidFill>
              </a:defRPr>
            </a:pPr>
            <a:r>
              <a:t>Prometheus + Grafana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</a:defRPr>
            </a:pPr>
            <a:r>
              <a:t>15 Clinical &amp; Operational Modules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2103120" cy="128016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Remote Patient Monitoring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40" y="1371600"/>
            <a:ext cx="2103120" cy="128016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26080" y="16459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Telehealth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371600"/>
            <a:ext cx="2103120" cy="12801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16459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Operations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1371600"/>
            <a:ext cx="2103120" cy="128016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0" y="16459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Analytics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92640" y="1371600"/>
            <a:ext cx="2103120" cy="128016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0" y="16459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Digital Twin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2103120" cy="128016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29184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Pharmacy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34640" y="3017520"/>
            <a:ext cx="2103120" cy="128016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0" y="329184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Labs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0" y="3017520"/>
            <a:ext cx="2103120" cy="12801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0" y="329184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Medical Imaging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40" y="3017520"/>
            <a:ext cx="2103120" cy="128016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0" y="329184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Revenue Cycle (RCM)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92640" y="3017520"/>
            <a:ext cx="2103120" cy="128016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0" y="329184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Mental Health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663440"/>
            <a:ext cx="2103120" cy="128016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9377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Patient Engagement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34640" y="4663440"/>
            <a:ext cx="2103120" cy="128016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26080" y="49377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Compliance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20640" y="4663440"/>
            <a:ext cx="2103120" cy="12801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80" y="49377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Ambient AI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06640" y="4663440"/>
            <a:ext cx="2103120" cy="128016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0" y="49377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Research &amp; Genomics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92640" y="4663440"/>
            <a:ext cx="2103120" cy="128016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84080" y="49377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AI Marketplace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Enterprise Security &amp; Compliance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303520" cy="10972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88"/>
                </a:solidFill>
              </a:defRPr>
            </a:pPr>
            <a:r>
              <a:t>Zero Trust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745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</a:defRPr>
            </a:pPr>
            <a:r>
              <a:t>Every request verified, no implicit trust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303520" cy="10972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88"/>
                </a:solidFill>
              </a:defRPr>
            </a:pPr>
            <a:r>
              <a:t>HIPAA Compliance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8745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</a:defRPr>
            </a:pPr>
            <a:r>
              <a:t>PHI encryption (AES-256-GCM), audit trails, access controls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51760"/>
            <a:ext cx="5303520" cy="10972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743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88"/>
                </a:solidFill>
              </a:defRPr>
            </a:pPr>
            <a:r>
              <a:t>RBAC Authorization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546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</a:defRPr>
            </a:pPr>
            <a:r>
              <a:t>22 granular permissions across 6 clinical roles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651760"/>
            <a:ext cx="5303520" cy="10972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743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88"/>
                </a:solidFill>
              </a:defRPr>
            </a:pPr>
            <a:r>
              <a:t>Multi-Tenant Isolation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1546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</a:defRPr>
            </a:pPr>
            <a:r>
              <a:t>Data, query, agent, and API-level isolation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31920"/>
            <a:ext cx="5303520" cy="10972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23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88"/>
                </a:solidFill>
              </a:defRPr>
            </a:pPr>
            <a:r>
              <a:t>PHI Protection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</a:defRPr>
            </a:pPr>
            <a:r>
              <a:t>5-level classification, automated detection &amp; masking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931920"/>
            <a:ext cx="5303520" cy="10972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4023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88"/>
                </a:solidFill>
              </a:defRPr>
            </a:pPr>
            <a:r>
              <a:t>Full Audit Trail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434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</a:defRPr>
            </a:pPr>
            <a:r>
              <a:t>Complete decision chain traceability for all AI actions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212079"/>
            <a:ext cx="5303520" cy="10972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303519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88"/>
                </a:solidFill>
              </a:defRPr>
            </a:pPr>
            <a:r>
              <a:t>Input Sanitization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714999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</a:defRPr>
            </a:pPr>
            <a:r>
              <a:t>SQL injection, XSS, and command injection prevention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5212079"/>
            <a:ext cx="5303520" cy="10972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5303519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88"/>
                </a:solidFill>
              </a:defRPr>
            </a:pPr>
            <a:r>
              <a:t>Regulatory Ready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5714999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</a:defRPr>
            </a:pPr>
            <a:r>
              <a:t>HITRUST, SOC2, FDA SaMD, EU AI Act compliance paths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</a:defRPr>
            </a:pPr>
            <a:r>
              <a:t>Deployment &amp;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Docker Compose for local development with hot-reload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Kubernetes (Helm 3) for staging and production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Horizontal Pod Autoscaler: 3-10 pods, 60% CPU / 70% memory targets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CI/CD via GitHub Actions: lint, test, type-check, security scan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Prometheus + Grafana monitoring with custom dashboards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OpenTelemetry distributed tracing across all agents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Temporal workflow engine for long-running healthcare processes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Automated deploy/teardown scripts with rollback support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5-Year Platform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371600" cy="82296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Year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1417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88"/>
                </a:solidFill>
              </a:defRPr>
            </a:pPr>
            <a:r>
              <a:t>Remote Patient Monitoring MVP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1783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</a:defRPr>
            </a:pPr>
            <a:r>
              <a:t>Core agent framework, RPM module, vitals pipeline, clinician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23160"/>
            <a:ext cx="1371600" cy="82296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Year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2468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88"/>
                </a:solidFill>
              </a:defRPr>
            </a:pPr>
            <a:r>
              <a:t>Telehealth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834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</a:defRPr>
            </a:pPr>
            <a:r>
              <a:t>Video consultations, ambient AI, clinical note generation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74720"/>
            <a:ext cx="1371600" cy="82296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61188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Year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3520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88"/>
                </a:solidFill>
              </a:defRPr>
            </a:pPr>
            <a:r>
              <a:t>Operations Automation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3886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</a:defRPr>
            </a:pPr>
            <a:r>
              <a:t>Scheduling, prior auth, referrals, billing workflows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526279"/>
            <a:ext cx="1371600" cy="82296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663439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Year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457199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88"/>
                </a:solidFill>
              </a:defRPr>
            </a:pPr>
            <a:r>
              <a:t>Population Health Analytics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4937759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</a:defRPr>
            </a:pPr>
            <a:r>
              <a:t>Cohort analysis, readmission prediction, executive dashboards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577840"/>
            <a:ext cx="1371600" cy="82296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71500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Year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5623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88"/>
                </a:solidFill>
              </a:defRPr>
            </a:pPr>
            <a:r>
              <a:t>Autonomous Operations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5989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</a:defRPr>
            </a:pPr>
            <a:r>
              <a:t>Full platform integration, AI marketplace, research &amp; genomics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Eminence HealthOS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9688"/>
                </a:solidFill>
              </a:defRPr>
            </a:pPr>
            <a:r>
              <a:t>The AI Operating System for Digital Healthcare Platforms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0F0F0"/>
                </a:solidFill>
              </a:defRPr>
            </a:pPr>
            <a:r>
              <a:t>Eminence Tech Solutions</a:t>
            </a:r>
            <a:br/>
            <a:r>
              <a:t>contact@eminencetech.com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